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58" r:id="rId7"/>
    <p:sldId id="259" r:id="rId8"/>
    <p:sldId id="260" r:id="rId9"/>
    <p:sldId id="267" r:id="rId10"/>
    <p:sldId id="261" r:id="rId11"/>
    <p:sldId id="263" r:id="rId12"/>
    <p:sldId id="262" r:id="rId13"/>
    <p:sldId id="264" r:id="rId14"/>
    <p:sldId id="268" r:id="rId15"/>
    <p:sldId id="265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7" orient="horz" pos="2500" userDrawn="1">
          <p15:clr>
            <a:srgbClr val="A4A3A4"/>
          </p15:clr>
        </p15:guide>
        <p15:guide id="8" pos="49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5F6"/>
    <a:srgbClr val="22272E"/>
    <a:srgbClr val="F7F1E4"/>
    <a:srgbClr val="B8D3E8"/>
    <a:srgbClr val="197DCE"/>
    <a:srgbClr val="BC7FBB"/>
    <a:srgbClr val="7FC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84E427A-3D55-4303-BF80-6455036E1DE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6" autoAdjust="0"/>
    <p:restoredTop sz="94291" autoAdjust="0"/>
  </p:normalViewPr>
  <p:slideViewPr>
    <p:cSldViewPr snapToGrid="0" showGuides="1">
      <p:cViewPr varScale="1">
        <p:scale>
          <a:sx n="95" d="100"/>
          <a:sy n="95" d="100"/>
        </p:scale>
        <p:origin x="206" y="72"/>
      </p:cViewPr>
      <p:guideLst>
        <p:guide pos="3840"/>
        <p:guide orient="horz" pos="2500"/>
        <p:guide pos="49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965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8B8B31-1CFE-4A78-A796-40061C1B29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5D168-A009-4B34-B08F-277E0D6ABD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47A4C-1800-412B-9042-C93F1924AEC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0C826E-30C5-4DD2-97CD-F700F8EBBF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BE32A-EDDE-428D-8FA7-84F681D978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1FD62-43B6-432F-96E1-BCDE3916E1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383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en-US" noProof="0" smtClean="0"/>
              <a:t>9/23/2025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View of a mountain range">
            <a:extLst>
              <a:ext uri="{FF2B5EF4-FFF2-40B4-BE49-F238E27FC236}">
                <a16:creationId xmlns:a16="http://schemas.microsoft.com/office/drawing/2014/main" id="{1DAC5403-E1D0-4032-A9FE-410B2982643C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46C517-01CF-4924-81A5-DAD4CE0BF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70000"/>
                </a:schemeClr>
              </a:gs>
              <a:gs pos="100000">
                <a:schemeClr val="accent3">
                  <a:alpha val="70000"/>
                </a:schemeClr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E013E669-E15F-4096-81CC-6637C4A9F9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12235" y="1680191"/>
            <a:ext cx="4367531" cy="324417"/>
          </a:xfrm>
        </p:spPr>
        <p:txBody>
          <a:bodyPr>
            <a:noAutofit/>
          </a:bodyPr>
          <a:lstStyle>
            <a:lvl1pPr marL="0" indent="0" algn="ctr">
              <a:buNone/>
              <a:defRPr sz="2000" b="1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7021" y="2107415"/>
            <a:ext cx="10117959" cy="2281355"/>
          </a:xfrm>
        </p:spPr>
        <p:txBody>
          <a:bodyPr>
            <a:noAutofit/>
          </a:bodyPr>
          <a:lstStyle>
            <a:lvl1pPr algn="ctr"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</a:t>
            </a:r>
            <a:br>
              <a:rPr lang="en-US" noProof="0"/>
            </a:br>
            <a:r>
              <a:rPr lang="en-US" noProof="0"/>
              <a:t>TITLE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5BB088E3-63C1-423F-A939-150B8E1F87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12235" y="1333943"/>
            <a:ext cx="4367531" cy="324417"/>
          </a:xfrm>
        </p:spPr>
        <p:txBody>
          <a:bodyPr>
            <a:noAutofit/>
          </a:bodyPr>
          <a:lstStyle>
            <a:lvl1pPr marL="0" indent="0" algn="ctr">
              <a:buNone/>
              <a:defRPr sz="23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Month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050857" y="4720037"/>
            <a:ext cx="10090287" cy="1101897"/>
          </a:xfrm>
        </p:spPr>
        <p:txBody>
          <a:bodyPr>
            <a:noAutofit/>
          </a:bodyPr>
          <a:lstStyle>
            <a:lvl1pPr marL="0" indent="0" algn="ctr">
              <a:buNone/>
              <a:defRPr sz="3500" b="0" i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Presentation</a:t>
            </a:r>
            <a:br>
              <a:rPr lang="en-US" noProof="0"/>
            </a:br>
            <a:r>
              <a:rPr lang="en-US" noProof="0"/>
              <a:t>Tagline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91BBC0-FAFE-4A57-9925-6182B74C4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9848" y="4453465"/>
            <a:ext cx="2432304" cy="64008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66819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E88C711-3D16-496B-BF96-001A0C0A3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82374" y="6430061"/>
            <a:ext cx="241402" cy="197510"/>
          </a:xfrm>
          <a:prstGeom prst="rect">
            <a:avLst/>
          </a:pr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0" name="Rectangle 9" descr="View of a lake and mountain range">
            <a:extLst>
              <a:ext uri="{FF2B5EF4-FFF2-40B4-BE49-F238E27FC236}">
                <a16:creationId xmlns:a16="http://schemas.microsoft.com/office/drawing/2014/main" id="{CECF654C-A7AE-4727-9F7F-492670C3E642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F3F28-2A24-40B5-AC8C-5A53DC799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40" y="3410712"/>
            <a:ext cx="11932920" cy="3319272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99000">
                <a:schemeClr val="accent3">
                  <a:alpha val="80000"/>
                </a:schemeClr>
              </a:gs>
            </a:gsLst>
            <a:lin ang="1680000" scaled="0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981036"/>
            <a:ext cx="10515600" cy="78263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DIVIDER SLIDE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1"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2807-F7BA-4350-93C3-95213A4854E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6AE88-305E-4E68-AF8E-10BCB695A1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BAC97E-3C4E-4D04-8A57-DC61E07CB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822F33-D675-4E6C-BD09-D9C78365B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70604" y="4804366"/>
            <a:ext cx="4050792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4F6DD4A-6071-4D11-ABDB-28EA5AC871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942478"/>
            <a:ext cx="10515600" cy="45908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lang="en-US" sz="230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3477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 descr="View of a lake with pine trees and mountain range">
            <a:extLst>
              <a:ext uri="{FF2B5EF4-FFF2-40B4-BE49-F238E27FC236}">
                <a16:creationId xmlns:a16="http://schemas.microsoft.com/office/drawing/2014/main" id="{CECF654C-A7AE-4727-9F7F-492670C3E642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F3F28-2A24-40B5-AC8C-5A53DC799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40" y="128016"/>
            <a:ext cx="685800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1680000" scaled="0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1169256"/>
            <a:ext cx="5285914" cy="782638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TEXT LAYOUT 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2807-F7BA-4350-93C3-95213A4854E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6AE88-305E-4E68-AF8E-10BCB695A1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BAC97E-3C4E-4D04-8A57-DC61E07CB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28AD4F5-2320-4533-9EC4-9832091E65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1248" y="2136036"/>
            <a:ext cx="5285914" cy="857098"/>
          </a:xfrm>
        </p:spPr>
        <p:txBody>
          <a:bodyPr>
            <a:normAutofit/>
          </a:bodyPr>
          <a:lstStyle>
            <a:lvl1pPr marL="0" indent="0" algn="l">
              <a:buNone/>
              <a:defRPr sz="2300">
                <a:solidFill>
                  <a:schemeClr val="bg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822F33-D675-4E6C-BD09-D9C78365B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026" y="1992586"/>
            <a:ext cx="4428000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302F0820-F94A-40EF-B3BE-26CD0CB551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199" y="3100269"/>
            <a:ext cx="5288963" cy="2588637"/>
          </a:xfrm>
        </p:spPr>
        <p:txBody>
          <a:bodyPr lIns="0"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1395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 descr="Close up view of lake edge with mountain range background">
            <a:extLst>
              <a:ext uri="{FF2B5EF4-FFF2-40B4-BE49-F238E27FC236}">
                <a16:creationId xmlns:a16="http://schemas.microsoft.com/office/drawing/2014/main" id="{CECF654C-A7AE-4727-9F7F-492670C3E642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F3F28-2A24-40B5-AC8C-5A53DC799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40" y="128016"/>
            <a:ext cx="11932920" cy="3319272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1680000" scaled="0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1093460"/>
            <a:ext cx="5320386" cy="782638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TEXT LAYOUT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2807-F7BA-4350-93C3-95213A4854E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6AE88-305E-4E68-AF8E-10BCB695A1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BAC97E-3C4E-4D04-8A57-DC61E07CB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28AD4F5-2320-4533-9EC4-9832091E65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1248" y="2060240"/>
            <a:ext cx="5320386" cy="882524"/>
          </a:xfrm>
        </p:spPr>
        <p:txBody>
          <a:bodyPr>
            <a:normAutofit/>
          </a:bodyPr>
          <a:lstStyle>
            <a:lvl1pPr marL="0" indent="0" algn="l">
              <a:buNone/>
              <a:defRPr sz="2300">
                <a:solidFill>
                  <a:schemeClr val="bg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822F33-D675-4E6C-BD09-D9C78365B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693" y="1916790"/>
            <a:ext cx="4500000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4B6CBCCA-9781-462D-AF43-C6AAE3D1AA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17897" y="1125545"/>
            <a:ext cx="4707842" cy="1849304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9193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Unpaved road lined with trees, mountain side drive">
            <a:extLst>
              <a:ext uri="{FF2B5EF4-FFF2-40B4-BE49-F238E27FC236}">
                <a16:creationId xmlns:a16="http://schemas.microsoft.com/office/drawing/2014/main" id="{EC40FB52-44A8-43D1-8B33-F4E55A83AC38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4ACA68-1C2C-4C4D-9CB4-1C8BF3E03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99000">
                <a:schemeClr val="accent3">
                  <a:alpha val="80000"/>
                </a:schemeClr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140A0-8435-451E-9A8E-9C33B97E1B1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DD90A-F598-4982-8244-00A2189F77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3373955-AB5B-4186-8098-9DBA0AB2650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59649" y="2738211"/>
            <a:ext cx="4183650" cy="454353"/>
          </a:xfrm>
        </p:spPr>
        <p:txBody>
          <a:bodyPr>
            <a:noAutofit/>
          </a:bodyPr>
          <a:lstStyle>
            <a:lvl1pPr marL="0" indent="0">
              <a:buNone/>
              <a:defRPr sz="30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9" name="Text Placeholder 26">
            <a:extLst>
              <a:ext uri="{FF2B5EF4-FFF2-40B4-BE49-F238E27FC236}">
                <a16:creationId xmlns:a16="http://schemas.microsoft.com/office/drawing/2014/main" id="{B534F865-65DF-4129-9CE5-414E249375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1" y="1835244"/>
            <a:ext cx="10515599" cy="629105"/>
          </a:xfrm>
        </p:spPr>
        <p:txBody>
          <a:bodyPr lIns="0" rIns="0">
            <a:noAutofit/>
          </a:bodyPr>
          <a:lstStyle>
            <a:lvl1pPr marL="0" indent="0" algn="ctr">
              <a:buNone/>
              <a:defRPr sz="2300" b="0" i="0">
                <a:solidFill>
                  <a:schemeClr val="bg2"/>
                </a:solidFill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3A3472E-32B4-4CAD-B5D0-420AA3FB4CE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627121" y="2738211"/>
            <a:ext cx="4183650" cy="454353"/>
          </a:xfrm>
        </p:spPr>
        <p:txBody>
          <a:bodyPr>
            <a:noAutofit/>
          </a:bodyPr>
          <a:lstStyle>
            <a:lvl1pPr marL="0" indent="0">
              <a:buNone/>
              <a:defRPr sz="30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1AEED068-3EA0-4BF4-875C-02473E9EB0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59649" y="3428501"/>
            <a:ext cx="4365625" cy="2333625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3590B9DA-A2DF-4AE1-9A98-C7B84F48C3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27121" y="3428501"/>
            <a:ext cx="4365625" cy="2333625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7629"/>
            <a:ext cx="105156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COMPARISON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E88236-C248-4008-9619-75BCE6D34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3F74C5-9ADD-4AE3-BCA5-88726CC2A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1752" y="1667974"/>
            <a:ext cx="3968496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50372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Unpaved road lined with trees, mountain side drive">
            <a:extLst>
              <a:ext uri="{FF2B5EF4-FFF2-40B4-BE49-F238E27FC236}">
                <a16:creationId xmlns:a16="http://schemas.microsoft.com/office/drawing/2014/main" id="{EC40FB52-44A8-43D1-8B33-F4E55A83AC38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4ACA68-1C2C-4C4D-9CB4-1C8BF3E03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140A0-8435-451E-9A8E-9C33B97E1B1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DD90A-F598-4982-8244-00A2189F77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Text Placeholder 26">
            <a:extLst>
              <a:ext uri="{FF2B5EF4-FFF2-40B4-BE49-F238E27FC236}">
                <a16:creationId xmlns:a16="http://schemas.microsoft.com/office/drawing/2014/main" id="{B534F865-65DF-4129-9CE5-414E249375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1248" y="3359239"/>
            <a:ext cx="4357688" cy="2252574"/>
          </a:xfrm>
        </p:spPr>
        <p:txBody>
          <a:bodyPr lIns="0" rIns="0">
            <a:noAutofit/>
          </a:bodyPr>
          <a:lstStyle>
            <a:lvl1pPr marL="0" indent="0" algn="l">
              <a:buNone/>
              <a:defRPr sz="2300" b="0" i="0">
                <a:solidFill>
                  <a:schemeClr val="bg2"/>
                </a:solidFill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2081624"/>
            <a:ext cx="4357688" cy="1325563"/>
          </a:xfrm>
        </p:spPr>
        <p:txBody>
          <a:bodyPr lIns="0" rIns="0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CHART SLIDE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E88236-C248-4008-9619-75BCE6D34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3F74C5-9ADD-4AE3-BCA5-88726CC2A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1877" y="3191969"/>
            <a:ext cx="3968496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6" name="Chart Placeholder 18">
            <a:extLst>
              <a:ext uri="{FF2B5EF4-FFF2-40B4-BE49-F238E27FC236}">
                <a16:creationId xmlns:a16="http://schemas.microsoft.com/office/drawing/2014/main" id="{BE9C98A7-B145-402E-BADA-CE785E3BA996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6981371" y="1246188"/>
            <a:ext cx="4284663" cy="43656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25342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Unpaved road lined with trees, mountain side drive">
            <a:extLst>
              <a:ext uri="{FF2B5EF4-FFF2-40B4-BE49-F238E27FC236}">
                <a16:creationId xmlns:a16="http://schemas.microsoft.com/office/drawing/2014/main" id="{EC40FB52-44A8-43D1-8B33-F4E55A83AC38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4ACA68-1C2C-4C4D-9CB4-1C8BF3E03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140A0-8435-451E-9A8E-9C33B97E1B1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DD90A-F598-4982-8244-00A2189F77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Text Placeholder 26">
            <a:extLst>
              <a:ext uri="{FF2B5EF4-FFF2-40B4-BE49-F238E27FC236}">
                <a16:creationId xmlns:a16="http://schemas.microsoft.com/office/drawing/2014/main" id="{B534F865-65DF-4129-9CE5-414E249375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83563" y="3359239"/>
            <a:ext cx="2596896" cy="2252574"/>
          </a:xfrm>
        </p:spPr>
        <p:txBody>
          <a:bodyPr lIns="0" rIns="0">
            <a:noAutofit/>
          </a:bodyPr>
          <a:lstStyle>
            <a:lvl1pPr marL="0" indent="0" algn="l">
              <a:buNone/>
              <a:defRPr sz="2300" b="0" i="0">
                <a:solidFill>
                  <a:schemeClr val="bg2"/>
                </a:solidFill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83562" y="1757774"/>
            <a:ext cx="2669859" cy="1325563"/>
          </a:xfrm>
        </p:spPr>
        <p:txBody>
          <a:bodyPr lIns="0" rIns="0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TABLE SLIDE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E88236-C248-4008-9619-75BCE6D34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3F74C5-9ADD-4AE3-BCA5-88726CC2A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83563" y="3191969"/>
            <a:ext cx="1545336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Table Placeholder 17">
            <a:extLst>
              <a:ext uri="{FF2B5EF4-FFF2-40B4-BE49-F238E27FC236}">
                <a16:creationId xmlns:a16="http://schemas.microsoft.com/office/drawing/2014/main" id="{62814DE5-26B2-4A8E-BA8D-A2E4C5547EB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911225" y="1505433"/>
            <a:ext cx="6561138" cy="384713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/>
              <a:t>Click icon to add table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01947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3C23D1-BE9A-4E52-9BEF-D55C4CB7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45798" y="6386170"/>
            <a:ext cx="307239" cy="343814"/>
          </a:xfrm>
          <a:prstGeom prst="rect">
            <a:avLst/>
          </a:pr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0" name="Rectangle 9" descr="View of a lake and mountain range">
            <a:extLst>
              <a:ext uri="{FF2B5EF4-FFF2-40B4-BE49-F238E27FC236}">
                <a16:creationId xmlns:a16="http://schemas.microsoft.com/office/drawing/2014/main" id="{CECF654C-A7AE-4727-9F7F-492670C3E642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F3F28-2A24-40B5-AC8C-5A53DC799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40" y="128016"/>
            <a:ext cx="11932920" cy="2368296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1680000" scaled="0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2807-F7BA-4350-93C3-95213A4854E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6AE88-305E-4E68-AF8E-10BCB695A1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BAC97E-3C4E-4D04-8A57-DC61E07CB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B33A3032-1037-4342-827F-CF13499782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1" y="1835244"/>
            <a:ext cx="10515599" cy="629105"/>
          </a:xfrm>
        </p:spPr>
        <p:txBody>
          <a:bodyPr lIns="0" rIns="0">
            <a:noAutofit/>
          </a:bodyPr>
          <a:lstStyle>
            <a:lvl1pPr marL="0" indent="0" algn="ctr">
              <a:buNone/>
              <a:defRPr sz="2300" b="0" i="0">
                <a:solidFill>
                  <a:schemeClr val="bg2"/>
                </a:solidFill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D6F6A17-AFDC-40C7-9D63-50FA052A16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7629"/>
            <a:ext cx="105156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BIG IMAGE SLIDE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68B9DC-C6AF-45D4-BBA3-A5EF781EA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59708" y="1667974"/>
            <a:ext cx="4672584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61272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Unpaved road lined with trees, mountain side drive">
            <a:extLst>
              <a:ext uri="{FF2B5EF4-FFF2-40B4-BE49-F238E27FC236}">
                <a16:creationId xmlns:a16="http://schemas.microsoft.com/office/drawing/2014/main" id="{EC40FB52-44A8-43D1-8B33-F4E55A83AC38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4ACA68-1C2C-4C4D-9CB4-1C8BF3E03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140A0-8435-451E-9A8E-9C33B97E1B1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DD90A-F598-4982-8244-00A2189F77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8873"/>
            <a:ext cx="105156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VIDEO SLIDE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E88236-C248-4008-9619-75BCE6D34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6" name="Media Placeholder 7">
            <a:extLst>
              <a:ext uri="{FF2B5EF4-FFF2-40B4-BE49-F238E27FC236}">
                <a16:creationId xmlns:a16="http://schemas.microsoft.com/office/drawing/2014/main" id="{A11F77F4-4B16-4503-B9B6-AE22C686E3E3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1395984" y="1497770"/>
            <a:ext cx="9400032" cy="4215384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media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9973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View of a lake and mountain range">
            <a:extLst>
              <a:ext uri="{FF2B5EF4-FFF2-40B4-BE49-F238E27FC236}">
                <a16:creationId xmlns:a16="http://schemas.microsoft.com/office/drawing/2014/main" id="{1DAC5403-E1D0-4032-A9FE-410B2982643C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46C517-01CF-4924-81A5-DAD4CE0BF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99000">
                <a:schemeClr val="accent3">
                  <a:alpha val="80000"/>
                </a:schemeClr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82190F1B-1701-4806-870F-8FC7F32FE4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12235" y="4222968"/>
            <a:ext cx="4367531" cy="474519"/>
          </a:xfrm>
        </p:spPr>
        <p:txBody>
          <a:bodyPr>
            <a:noAutofit/>
          </a:bodyPr>
          <a:lstStyle>
            <a:lvl1pPr marL="0" indent="0" algn="ctr">
              <a:buNone/>
              <a:defRPr sz="35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+7 678-555-0128</a:t>
            </a:r>
          </a:p>
        </p:txBody>
      </p:sp>
      <p:sp>
        <p:nvSpPr>
          <p:cNvPr id="18" name="Text Placeholder 26">
            <a:extLst>
              <a:ext uri="{FF2B5EF4-FFF2-40B4-BE49-F238E27FC236}">
                <a16:creationId xmlns:a16="http://schemas.microsoft.com/office/drawing/2014/main" id="{972B7F81-5409-42D9-B44C-88D9CBD9BA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12235" y="3927698"/>
            <a:ext cx="4367531" cy="288000"/>
          </a:xfrm>
        </p:spPr>
        <p:txBody>
          <a:bodyPr>
            <a:noAutofit/>
          </a:bodyPr>
          <a:lstStyle>
            <a:lvl1pPr marL="0" indent="0" algn="ctr">
              <a:buNone/>
              <a:defRPr sz="20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Phone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FAA54554-5CE2-43AD-979D-F095482C49A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50857" y="2655074"/>
            <a:ext cx="10090287" cy="606659"/>
          </a:xfrm>
        </p:spPr>
        <p:txBody>
          <a:bodyPr>
            <a:noAutofit/>
          </a:bodyPr>
          <a:lstStyle>
            <a:lvl1pPr marL="0" indent="0" algn="ctr">
              <a:buNone/>
              <a:defRPr sz="3500" b="0" i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Alexander Martensson</a:t>
            </a:r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A1D8F0C1-128A-435B-8585-F0B32496EC7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5722" y="5230723"/>
            <a:ext cx="5920556" cy="474519"/>
          </a:xfrm>
        </p:spPr>
        <p:txBody>
          <a:bodyPr>
            <a:noAutofit/>
          </a:bodyPr>
          <a:lstStyle>
            <a:lvl1pPr marL="0" indent="0" algn="ctr">
              <a:buNone/>
              <a:defRPr sz="35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martensson@example.com</a:t>
            </a:r>
          </a:p>
        </p:txBody>
      </p:sp>
      <p:sp>
        <p:nvSpPr>
          <p:cNvPr id="22" name="Text Placeholder 26">
            <a:extLst>
              <a:ext uri="{FF2B5EF4-FFF2-40B4-BE49-F238E27FC236}">
                <a16:creationId xmlns:a16="http://schemas.microsoft.com/office/drawing/2014/main" id="{90B48E8B-E525-4852-9167-5281C64B1C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12235" y="4929014"/>
            <a:ext cx="4367531" cy="288000"/>
          </a:xfrm>
        </p:spPr>
        <p:txBody>
          <a:bodyPr>
            <a:noAutofit/>
          </a:bodyPr>
          <a:lstStyle>
            <a:lvl1pPr marL="0" indent="0" algn="ctr">
              <a:buNone/>
              <a:defRPr sz="20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Email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0C5EB90F-1ADD-412B-9044-2CC607B786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0856" y="993494"/>
            <a:ext cx="10104124" cy="1517356"/>
          </a:xfrm>
        </p:spPr>
        <p:txBody>
          <a:bodyPr>
            <a:noAutofit/>
          </a:bodyPr>
          <a:lstStyle>
            <a:lvl1pPr algn="ctr"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YOU!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40A1271-E1E7-40AB-9552-9B4249544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56204" y="2421953"/>
            <a:ext cx="5879592" cy="64008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71178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View of a mountain range">
            <a:extLst>
              <a:ext uri="{FF2B5EF4-FFF2-40B4-BE49-F238E27FC236}">
                <a16:creationId xmlns:a16="http://schemas.microsoft.com/office/drawing/2014/main" id="{1DAC5403-E1D0-4032-A9FE-410B2982643C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46C517-01CF-4924-81A5-DAD4CE0BF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70000"/>
                </a:schemeClr>
              </a:gs>
              <a:gs pos="100000">
                <a:schemeClr val="accent3">
                  <a:alpha val="70000"/>
                </a:schemeClr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7021" y="2107415"/>
            <a:ext cx="10117959" cy="2281355"/>
          </a:xfrm>
        </p:spPr>
        <p:txBody>
          <a:bodyPr>
            <a:noAutofit/>
          </a:bodyPr>
          <a:lstStyle>
            <a:lvl1pPr algn="ctr"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</a:t>
            </a:r>
            <a:br>
              <a:rPr lang="en-US" noProof="0"/>
            </a:br>
            <a:r>
              <a:rPr lang="en-US" noProof="0"/>
              <a:t>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91BBC0-FAFE-4A57-9925-6182B74C4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9848" y="4453465"/>
            <a:ext cx="2432304" cy="64008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8214E67-DE9D-42F7-B713-798383BBD1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7021" y="4720036"/>
            <a:ext cx="10117959" cy="1101898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en-US" sz="3500" b="0" i="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38553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 descr="View of a lake and mountain range">
            <a:extLst>
              <a:ext uri="{FF2B5EF4-FFF2-40B4-BE49-F238E27FC236}">
                <a16:creationId xmlns:a16="http://schemas.microsoft.com/office/drawing/2014/main" id="{CECF654C-A7AE-4727-9F7F-492670C3E642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F3F28-2A24-40B5-AC8C-5A53DC799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39" y="128016"/>
            <a:ext cx="11932919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1680000" scaled="0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2807-F7BA-4350-93C3-95213A4854E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6AE88-305E-4E68-AF8E-10BCB695A1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BAC97E-3C4E-4D04-8A57-DC61E07CB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822F33-D675-4E6C-BD09-D9C78365B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026" y="1747488"/>
            <a:ext cx="4428000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1B00995-C0FC-4EC6-A9B0-828FB28FC47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1A54DF2-9EE6-43F7-A586-88CA6C624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511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 descr="View of a lake and mountain range">
            <a:extLst>
              <a:ext uri="{FF2B5EF4-FFF2-40B4-BE49-F238E27FC236}">
                <a16:creationId xmlns:a16="http://schemas.microsoft.com/office/drawing/2014/main" id="{CECF654C-A7AE-4727-9F7F-492670C3E642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F3F28-2A24-40B5-AC8C-5A53DC799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39" y="128016"/>
            <a:ext cx="11932919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1680000" scaled="0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2807-F7BA-4350-93C3-95213A4854E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6AE88-305E-4E68-AF8E-10BCB695A1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BAC97E-3C4E-4D04-8A57-DC61E07CB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822F33-D675-4E6C-BD09-D9C78365B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026" y="1747488"/>
            <a:ext cx="4428000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1A54DF2-9EE6-43F7-A586-88CA6C624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122F4F2-F130-4DBE-B244-1D59BBE5CD9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CE5575-876A-4335-83ED-6B346DA1B4D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5035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 descr="View of a lake and mountain range">
            <a:extLst>
              <a:ext uri="{FF2B5EF4-FFF2-40B4-BE49-F238E27FC236}">
                <a16:creationId xmlns:a16="http://schemas.microsoft.com/office/drawing/2014/main" id="{CECF654C-A7AE-4727-9F7F-492670C3E642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F3F28-2A24-40B5-AC8C-5A53DC799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39" y="128016"/>
            <a:ext cx="11932919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1680000" scaled="0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2807-F7BA-4350-93C3-95213A4854E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6AE88-305E-4E68-AF8E-10BCB695A1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BAC97E-3C4E-4D04-8A57-DC61E07CB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822F33-D675-4E6C-BD09-D9C78365B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026" y="1747488"/>
            <a:ext cx="4428000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1A54DF2-9EE6-43F7-A586-88CA6C624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1F82F6E-10E8-4A58-9655-E18D14D790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840863"/>
            <a:ext cx="5157787" cy="664211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2F6C18E-5BCB-42EF-9310-5BD6E011DF2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BA2923F-D123-40C6-A193-B86D683D5B51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840863"/>
            <a:ext cx="5183188" cy="6642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8305C175-94AC-44DD-9321-0A8DBDF22DA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998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 descr="View of a lake and mountain range">
            <a:extLst>
              <a:ext uri="{FF2B5EF4-FFF2-40B4-BE49-F238E27FC236}">
                <a16:creationId xmlns:a16="http://schemas.microsoft.com/office/drawing/2014/main" id="{CECF654C-A7AE-4727-9F7F-492670C3E642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F3F28-2A24-40B5-AC8C-5A53DC799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39" y="128016"/>
            <a:ext cx="11932919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1680000" scaled="0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2807-F7BA-4350-93C3-95213A4854E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6AE88-305E-4E68-AF8E-10BCB695A1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BAC97E-3C4E-4D04-8A57-DC61E07CB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822F33-D675-4E6C-BD09-D9C78365B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026" y="2105709"/>
            <a:ext cx="3749040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1C3E675-6E45-4A81-AEA3-D36388222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E4B599D-7641-40C1-8DAE-110A36403CF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177592"/>
            <a:ext cx="3932237" cy="3691396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09FEF38-E3A7-4527-97CB-AF528BAEBA8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0012" y="457200"/>
            <a:ext cx="6172200" cy="5408613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7947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 descr="View of a lake and mountain range">
            <a:extLst>
              <a:ext uri="{FF2B5EF4-FFF2-40B4-BE49-F238E27FC236}">
                <a16:creationId xmlns:a16="http://schemas.microsoft.com/office/drawing/2014/main" id="{CECF654C-A7AE-4727-9F7F-492670C3E642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F3F28-2A24-40B5-AC8C-5A53DC799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39" y="128016"/>
            <a:ext cx="11932919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1680000" scaled="0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2807-F7BA-4350-93C3-95213A4854E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6AE88-305E-4E68-AF8E-10BCB695A1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BAC97E-3C4E-4D04-8A57-DC61E07CB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822F33-D675-4E6C-BD09-D9C78365B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026" y="2105709"/>
            <a:ext cx="3749040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1C3E675-6E45-4A81-AEA3-D36388222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E4B599D-7641-40C1-8DAE-110A36403CF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177592"/>
            <a:ext cx="3932237" cy="3691396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1B69B4CE-EB2F-46CF-9A80-64E44E5E95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anchor="ctr"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9830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Unpaved road lined with trees, mountain side drive">
            <a:extLst>
              <a:ext uri="{FF2B5EF4-FFF2-40B4-BE49-F238E27FC236}">
                <a16:creationId xmlns:a16="http://schemas.microsoft.com/office/drawing/2014/main" id="{EC40FB52-44A8-43D1-8B33-F4E55A83AC38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4ACA68-1C2C-4C4D-9CB4-1C8BF3E03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99000">
                <a:schemeClr val="accent3">
                  <a:alpha val="80000"/>
                </a:schemeClr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140A0-8435-451E-9A8E-9C33B97E1B1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DD90A-F598-4982-8244-00A2189F77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E88236-C248-4008-9619-75BCE6D34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3F74C5-9ADD-4AE3-BCA5-88726CC2A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2920" y="1667974"/>
            <a:ext cx="3566160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B3756-19E0-4B2F-B1D5-7664E0B38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18320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Unpaved road lined with trees, mountain side drive">
            <a:extLst>
              <a:ext uri="{FF2B5EF4-FFF2-40B4-BE49-F238E27FC236}">
                <a16:creationId xmlns:a16="http://schemas.microsoft.com/office/drawing/2014/main" id="{EC40FB52-44A8-43D1-8B33-F4E55A83AC38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4ACA68-1C2C-4C4D-9CB4-1C8BF3E03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99000">
                <a:schemeClr val="accent3">
                  <a:alpha val="80000"/>
                </a:schemeClr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140A0-8435-451E-9A8E-9C33B97E1B1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DD90A-F598-4982-8244-00A2189F77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E88236-C248-4008-9619-75BCE6D34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26306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64ACA68-1C2C-4C4D-9CB4-1C8BF3E03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7629"/>
            <a:ext cx="105156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HOW TO USE THIS TEMPLATE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3F74C5-9ADD-4AE3-BCA5-88726CC2A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017776" y="1667974"/>
            <a:ext cx="8156448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10000CCD-6AFF-4E65-8858-5502306E58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5578" y="1960171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5D777E5-98F6-416A-8D23-3399269D85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42535" y="1984171"/>
            <a:ext cx="3103110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0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C979BADF-99B5-4C91-AAE5-FC2C4DBEDE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20642" y="1960171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6706F6A2-1599-4D73-9288-3ECEACDDCA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77939" y="1984171"/>
            <a:ext cx="2243918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0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BAE5E245-1702-4722-895D-0808BB0A86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06755" y="1977950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3</a:t>
            </a:r>
          </a:p>
        </p:txBody>
      </p:sp>
      <p:sp>
        <p:nvSpPr>
          <p:cNvPr id="36" name="Text Placeholder 24">
            <a:extLst>
              <a:ext uri="{FF2B5EF4-FFF2-40B4-BE49-F238E27FC236}">
                <a16:creationId xmlns:a16="http://schemas.microsoft.com/office/drawing/2014/main" id="{3701E665-3CED-413C-BAC6-CE003B1494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64052" y="2001950"/>
            <a:ext cx="2959116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0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7" name="Text Placeholder 24">
            <a:extLst>
              <a:ext uri="{FF2B5EF4-FFF2-40B4-BE49-F238E27FC236}">
                <a16:creationId xmlns:a16="http://schemas.microsoft.com/office/drawing/2014/main" id="{E01406B4-D44B-4D1E-91F3-D87541EAD4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0059" y="3103993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9AAD5CF9-9A59-4C5F-8C29-B92AD601211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18684" y="3103993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9" name="Text Placeholder 24">
            <a:extLst>
              <a:ext uri="{FF2B5EF4-FFF2-40B4-BE49-F238E27FC236}">
                <a16:creationId xmlns:a16="http://schemas.microsoft.com/office/drawing/2014/main" id="{C6725172-65CC-4645-B23F-E77886468F3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94793" y="3103993"/>
            <a:ext cx="2599197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0" name="Text Placeholder 24">
            <a:extLst>
              <a:ext uri="{FF2B5EF4-FFF2-40B4-BE49-F238E27FC236}">
                <a16:creationId xmlns:a16="http://schemas.microsoft.com/office/drawing/2014/main" id="{0EA5E6CA-5C78-4B75-BA22-59750E7D45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76955" y="3102450"/>
            <a:ext cx="3726423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E1C61752-F57C-4FBF-93F3-06F43CCA43C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57040" y="5751926"/>
            <a:ext cx="8877920" cy="470478"/>
          </a:xfrm>
        </p:spPr>
        <p:txBody>
          <a:bodyPr>
            <a:normAutofit/>
          </a:bodyPr>
          <a:lstStyle>
            <a:lvl1pPr marL="0" indent="0" algn="ctr">
              <a:buNone/>
              <a:defRPr sz="1600" b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2" name="Text Placeholder 24">
            <a:extLst>
              <a:ext uri="{FF2B5EF4-FFF2-40B4-BE49-F238E27FC236}">
                <a16:creationId xmlns:a16="http://schemas.microsoft.com/office/drawing/2014/main" id="{E0232175-FB97-4039-8136-B9DD27441C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4791" y="5070254"/>
            <a:ext cx="2599199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3" name="Text Placeholder 24">
            <a:extLst>
              <a:ext uri="{FF2B5EF4-FFF2-40B4-BE49-F238E27FC236}">
                <a16:creationId xmlns:a16="http://schemas.microsoft.com/office/drawing/2014/main" id="{6E5262C3-0603-403F-AB36-FB4EB9FC7BC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90713" y="5070254"/>
            <a:ext cx="3712665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4" name="Picture Placeholder 12">
            <a:extLst>
              <a:ext uri="{FF2B5EF4-FFF2-40B4-BE49-F238E27FC236}">
                <a16:creationId xmlns:a16="http://schemas.microsoft.com/office/drawing/2014/main" id="{D2FBACFC-8B68-4A37-95A4-26BE5A23D75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020058" y="3976866"/>
            <a:ext cx="3273552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5A6A36C6-8489-4333-927A-141D8F98AE50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794792" y="4041034"/>
            <a:ext cx="2599199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BB2DF986-C446-4302-9099-B1512AD5D8C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7876955" y="4041034"/>
            <a:ext cx="2599200" cy="896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1389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21279" y="6118484"/>
            <a:ext cx="549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MM.DD.20XX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32239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77" r:id="rId2"/>
    <p:sldLayoutId id="2147483678" r:id="rId3"/>
    <p:sldLayoutId id="2147483679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87" r:id="rId17"/>
    <p:sldLayoutId id="2147483695" r:id="rId18"/>
    <p:sldLayoutId id="2147483688" r:id="rId19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  <p15:guide id="9" pos="302" userDrawn="1">
          <p15:clr>
            <a:srgbClr val="F26B43"/>
          </p15:clr>
        </p15:guide>
        <p15:guide id="10" pos="737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9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B5ACF46-78E6-634D-0CD7-B52968B136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shade val="30000"/>
                  <a:satMod val="115000"/>
                  <a:alpha val="0"/>
                  <a:lumMod val="0"/>
                </a:schemeClr>
              </a:gs>
              <a:gs pos="100000">
                <a:srgbClr val="E6C8CB"/>
              </a:gs>
              <a:gs pos="100000">
                <a:srgbClr val="DEC1C4"/>
              </a:gs>
              <a:gs pos="100000">
                <a:srgbClr val="D9BEC0"/>
              </a:gs>
              <a:gs pos="100000">
                <a:srgbClr val="DBBFC1"/>
              </a:gs>
              <a:gs pos="16000">
                <a:schemeClr val="accent6">
                  <a:lumMod val="20000"/>
                  <a:lumOff val="80000"/>
                  <a:shade val="67500"/>
                  <a:satMod val="115000"/>
                  <a:alpha val="38000"/>
                </a:schemeClr>
              </a:gs>
              <a:gs pos="100000">
                <a:schemeClr val="accent6">
                  <a:lumMod val="20000"/>
                  <a:lumOff val="8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29994" y="2233068"/>
            <a:ext cx="10508566" cy="2155702"/>
          </a:xfrm>
          <a:prstGeom prst="roundRect">
            <a:avLst/>
          </a:pr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2072640" y="4615139"/>
            <a:ext cx="7934179" cy="756629"/>
          </a:xfrm>
          <a:prstGeom prst="roundRect">
            <a:avLst/>
          </a:pr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23514F-9C9F-4868-A7D9-66CAA07E61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50856" y="4151922"/>
            <a:ext cx="10090287" cy="1101897"/>
          </a:xfrm>
        </p:spPr>
        <p:txBody>
          <a:bodyPr/>
          <a:lstStyle/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Presented by Group 1</a:t>
            </a:r>
            <a:endParaRPr lang="ru-RU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857963-8D3D-4F24-B535-54652EE09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749" y="1486232"/>
            <a:ext cx="10117959" cy="2281355"/>
          </a:xfrm>
        </p:spPr>
        <p:txBody>
          <a:bodyPr/>
          <a:lstStyle/>
          <a:p>
            <a:r>
              <a:rPr lang="en-US" sz="7200" dirty="0">
                <a:ln w="0"/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Digital Voltmeter Using </a:t>
            </a:r>
            <a:r>
              <a:rPr lang="en-US" sz="7200" dirty="0" err="1">
                <a:ln w="0"/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Arduino</a:t>
            </a:r>
            <a:r>
              <a:rPr lang="en-US" sz="7200" dirty="0">
                <a:ln w="0"/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 and LCD Display</a:t>
            </a:r>
            <a:endParaRPr lang="ru-RU" sz="7200" dirty="0">
              <a:ln w="0"/>
              <a:solidFill>
                <a:schemeClr val="tx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4231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90000"/>
            <a:lum/>
          </a:blip>
          <a:srcRect/>
          <a:stretch>
            <a:fillRect t="-69000" b="-6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DAF48A3-2D62-6A73-FEE8-858439ADB375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EFD0D3"/>
              </a:gs>
              <a:gs pos="0">
                <a:schemeClr val="accent6">
                  <a:shade val="30000"/>
                  <a:satMod val="115000"/>
                  <a:alpha val="0"/>
                  <a:lumMod val="0"/>
                </a:schemeClr>
              </a:gs>
              <a:gs pos="54000">
                <a:schemeClr val="accent6">
                  <a:lumMod val="20000"/>
                  <a:lumOff val="80000"/>
                  <a:shade val="67500"/>
                  <a:satMod val="115000"/>
                  <a:alpha val="42000"/>
                </a:schemeClr>
              </a:gs>
              <a:gs pos="100000">
                <a:schemeClr val="accent6">
                  <a:lumMod val="20000"/>
                  <a:lumOff val="8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EDADF0-23DD-491B-8755-2E19692F9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479" y="506316"/>
            <a:ext cx="10515600" cy="782638"/>
          </a:xfrm>
        </p:spPr>
        <p:txBody>
          <a:bodyPr/>
          <a:lstStyle/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Executed by: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2226" y="2122673"/>
            <a:ext cx="11462066" cy="2900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spcBef>
                <a:spcPts val="120"/>
              </a:spcBef>
              <a:buFont typeface="Wingdings" panose="05000000000000000000" pitchFamily="2" charset="2"/>
              <a:buChar char="§"/>
            </a:pPr>
            <a:r>
              <a:rPr lang="en-US" sz="3600" dirty="0">
                <a:ln w="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ppins Light" panose="00000400000000000000" pitchFamily="2" charset="0"/>
                <a:cs typeface="Poppins Light" panose="00000400000000000000" pitchFamily="2" charset="0"/>
              </a:rPr>
              <a:t>202516060 - Abdullah Al Kafi</a:t>
            </a:r>
          </a:p>
          <a:p>
            <a:pPr marL="571500" indent="-571500">
              <a:spcBef>
                <a:spcPts val="120"/>
              </a:spcBef>
              <a:buFont typeface="Wingdings" panose="05000000000000000000" pitchFamily="2" charset="2"/>
              <a:buChar char="§"/>
            </a:pPr>
            <a:r>
              <a:rPr lang="en-US" sz="3600" dirty="0">
                <a:ln w="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ppins Light" panose="00000400000000000000" pitchFamily="2" charset="0"/>
                <a:cs typeface="Poppins Light" panose="00000400000000000000" pitchFamily="2" charset="0"/>
              </a:rPr>
              <a:t>202516067 - </a:t>
            </a:r>
            <a:r>
              <a:rPr lang="en-US" sz="3600" dirty="0" err="1">
                <a:ln w="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ppins Light" panose="00000400000000000000" pitchFamily="2" charset="0"/>
                <a:cs typeface="Poppins Light" panose="00000400000000000000" pitchFamily="2" charset="0"/>
              </a:rPr>
              <a:t>Mst</a:t>
            </a:r>
            <a:r>
              <a:rPr lang="en-US" sz="3600" dirty="0">
                <a:ln w="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ppins Light" panose="00000400000000000000" pitchFamily="2" charset="0"/>
                <a:cs typeface="Poppins Light" panose="00000400000000000000" pitchFamily="2" charset="0"/>
              </a:rPr>
              <a:t>. Sanjana Afrin Tanha</a:t>
            </a:r>
          </a:p>
          <a:p>
            <a:pPr marL="571500" indent="-571500">
              <a:spcBef>
                <a:spcPts val="120"/>
              </a:spcBef>
              <a:buFont typeface="Wingdings" panose="05000000000000000000" pitchFamily="2" charset="2"/>
              <a:buChar char="§"/>
            </a:pPr>
            <a:r>
              <a:rPr lang="en-US" sz="3600" dirty="0">
                <a:ln w="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ppins Light" panose="00000400000000000000" pitchFamily="2" charset="0"/>
                <a:cs typeface="Poppins Light" panose="00000400000000000000" pitchFamily="2" charset="0"/>
              </a:rPr>
              <a:t>202516071  - Hasin Ishraq Khan</a:t>
            </a:r>
          </a:p>
          <a:p>
            <a:pPr marL="571500" indent="-571500">
              <a:spcBef>
                <a:spcPts val="120"/>
              </a:spcBef>
              <a:buFont typeface="Wingdings" panose="05000000000000000000" pitchFamily="2" charset="2"/>
              <a:buChar char="§"/>
            </a:pPr>
            <a:r>
              <a:rPr lang="en-US" sz="3600" dirty="0">
                <a:ln w="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ppins Light" panose="00000400000000000000" pitchFamily="2" charset="0"/>
                <a:cs typeface="Poppins Light" panose="00000400000000000000" pitchFamily="2" charset="0"/>
              </a:rPr>
              <a:t>202516073 - Muhammad Labib Daiyan Bhuiyan </a:t>
            </a:r>
          </a:p>
          <a:p>
            <a:pPr marL="571500" indent="-571500">
              <a:spcBef>
                <a:spcPts val="120"/>
              </a:spcBef>
              <a:buFont typeface="Wingdings" panose="05000000000000000000" pitchFamily="2" charset="2"/>
              <a:buChar char="§"/>
            </a:pPr>
            <a:r>
              <a:rPr lang="en-US" sz="3600" dirty="0">
                <a:ln w="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ppins Light" panose="00000400000000000000" pitchFamily="2" charset="0"/>
                <a:cs typeface="Poppins Light" panose="00000400000000000000" pitchFamily="2" charset="0"/>
              </a:rPr>
              <a:t>202516077 - Md. </a:t>
            </a:r>
            <a:r>
              <a:rPr lang="en-US" sz="3600" dirty="0" err="1">
                <a:ln w="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ppins Light" panose="00000400000000000000" pitchFamily="2" charset="0"/>
                <a:cs typeface="Poppins Light" panose="00000400000000000000" pitchFamily="2" charset="0"/>
              </a:rPr>
              <a:t>Rowshon</a:t>
            </a:r>
            <a:r>
              <a:rPr lang="en-US" sz="3600" dirty="0">
                <a:ln w="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ppins Light" panose="00000400000000000000" pitchFamily="2" charset="0"/>
                <a:cs typeface="Poppins Light" panose="00000400000000000000" pitchFamily="2" charset="0"/>
              </a:rPr>
              <a:t> Jamil Anondo</a:t>
            </a:r>
          </a:p>
        </p:txBody>
      </p:sp>
    </p:spTree>
    <p:extLst>
      <p:ext uri="{BB962C8B-B14F-4D97-AF65-F5344CB8AC3E}">
        <p14:creationId xmlns:p14="http://schemas.microsoft.com/office/powerpoint/2010/main" val="434389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90000"/>
            <a:lum/>
          </a:blip>
          <a:srcRect/>
          <a:stretch>
            <a:fillRect t="-69000" b="-6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64AF5C5-96EE-53D8-12A2-520846B93E1F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shade val="30000"/>
                  <a:satMod val="115000"/>
                  <a:alpha val="0"/>
                  <a:lumMod val="0"/>
                </a:schemeClr>
              </a:gs>
              <a:gs pos="51000">
                <a:schemeClr val="accent6">
                  <a:lumMod val="20000"/>
                  <a:lumOff val="80000"/>
                  <a:shade val="67500"/>
                  <a:satMod val="115000"/>
                  <a:alpha val="42000"/>
                </a:schemeClr>
              </a:gs>
              <a:gs pos="100000">
                <a:schemeClr val="accent6">
                  <a:lumMod val="20000"/>
                  <a:lumOff val="8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93D545-C417-48EA-9543-078BF8EB6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659" y="625846"/>
            <a:ext cx="5285914" cy="782638"/>
          </a:xfrm>
        </p:spPr>
        <p:txBody>
          <a:bodyPr/>
          <a:lstStyle/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Table of Content: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54AC28-9C3E-4734-B2BB-5EC5F60F555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51659" y="1996392"/>
            <a:ext cx="8488681" cy="5057577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4000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Prologue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4000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Circuit Components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4000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Circuit Diagram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4000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Code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4000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Mechanism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4000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Results and Applications</a:t>
            </a:r>
            <a:br>
              <a:rPr lang="en-US" sz="1200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endParaRPr lang="en-US" sz="1200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693425-88A1-A8DD-CF41-3D4A6B367822}"/>
              </a:ext>
            </a:extLst>
          </p:cNvPr>
          <p:cNvSpPr/>
          <p:nvPr/>
        </p:nvSpPr>
        <p:spPr>
          <a:xfrm>
            <a:off x="3481431" y="4823670"/>
            <a:ext cx="9647339" cy="5159229"/>
          </a:xfrm>
          <a:prstGeom prst="rect">
            <a:avLst/>
          </a:pr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523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85000"/>
            <a:alpha val="6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4670474" y="225083"/>
            <a:ext cx="2912012" cy="1041009"/>
          </a:xfrm>
          <a:prstGeom prst="rect">
            <a:avLst/>
          </a:pr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8B51AE-252F-4958-A1E9-67C57179F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6297" y="375704"/>
            <a:ext cx="2619405" cy="782638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Prologue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61" t="5743" r="19921" b="5026"/>
          <a:stretch/>
        </p:blipFill>
        <p:spPr>
          <a:xfrm>
            <a:off x="9412046" y="767023"/>
            <a:ext cx="2433713" cy="50173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3198" y="1833229"/>
            <a:ext cx="8454683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What is a voltmeter?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voltmeter (or multimeter in voltage mode)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is an instrument used to measure the potential difference between two points in a circuit.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How was it built in this project?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voltage divider circuit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uses two resistors connected in series across a voltage source. The output voltage is taken from the junction of the resistors, which provides only a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fraction of the input voltage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based on the resistor ratio. To make a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voltmeter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an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Arduino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is connected in parallel with one resistor, and the large resistance (the divider) scales the input voltage down to a measurable range. This principle allows the built voltmeter to measure different voltage ranges accurately without damaging the components.</a:t>
            </a: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98383" y="6018990"/>
            <a:ext cx="2861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Multimeter</a:t>
            </a:r>
            <a:r>
              <a:rPr lang="en-US" dirty="0"/>
              <a:t> in Voltage Mode</a:t>
            </a:r>
          </a:p>
        </p:txBody>
      </p:sp>
    </p:spTree>
    <p:extLst>
      <p:ext uri="{BB962C8B-B14F-4D97-AF65-F5344CB8AC3E}">
        <p14:creationId xmlns:p14="http://schemas.microsoft.com/office/powerpoint/2010/main" val="263658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85000"/>
            <a:alpha val="3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4670474" y="225083"/>
            <a:ext cx="2912012" cy="1041009"/>
          </a:xfrm>
          <a:prstGeom prst="roundRect">
            <a:avLst/>
          </a:pr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48B51AE-252F-4958-A1E9-67C57179FF35}"/>
              </a:ext>
            </a:extLst>
          </p:cNvPr>
          <p:cNvSpPr txBox="1">
            <a:spLocks/>
          </p:cNvSpPr>
          <p:nvPr/>
        </p:nvSpPr>
        <p:spPr>
          <a:xfrm>
            <a:off x="4850540" y="342907"/>
            <a:ext cx="2619405" cy="782638"/>
          </a:xfrm>
          <a:prstGeom prst="rect">
            <a:avLst/>
          </a:prstGeom>
        </p:spPr>
        <p:txBody>
          <a:bodyPr vert="horz" lIns="0" tIns="45720" rIns="0" bIns="45720" rtlCol="0" anchor="ctr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b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Components</a:t>
            </a:r>
            <a:endParaRPr lang="en-US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598524">
            <a:off x="426354" y="1091388"/>
            <a:ext cx="3275689" cy="288328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84082">
            <a:off x="3961361" y="494042"/>
            <a:ext cx="3925036" cy="392503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801" y="1467731"/>
            <a:ext cx="3130062" cy="128332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10" y="4119040"/>
            <a:ext cx="2108982" cy="229237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799" y="4346726"/>
            <a:ext cx="508045" cy="1884233"/>
          </a:xfrm>
          <a:prstGeom prst="rect">
            <a:avLst/>
          </a:prstGeom>
        </p:spPr>
      </p:pic>
      <p:pic>
        <p:nvPicPr>
          <p:cNvPr id="1026" name="Picture 2" descr="Typical LCD pinout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8488" y="4430830"/>
            <a:ext cx="3673506" cy="1668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93" t="26023" r="26941" b="9426"/>
          <a:stretch/>
        </p:blipFill>
        <p:spPr>
          <a:xfrm>
            <a:off x="9473424" y="2977765"/>
            <a:ext cx="2293034" cy="358653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72453" y="3614562"/>
            <a:ext cx="187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Arduino</a:t>
            </a:r>
            <a:r>
              <a:rPr lang="en-US" b="1" dirty="0"/>
              <a:t> UNO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55041" y="6303268"/>
            <a:ext cx="187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Breadboard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1723" y="6303268"/>
            <a:ext cx="2167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16*2 LCD Display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4995" y="6240364"/>
            <a:ext cx="1248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LED Bulb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510" y="6361892"/>
            <a:ext cx="2375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Potentiometer (10k)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91756" y="3397630"/>
            <a:ext cx="2901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Jumper Wire (M-F and M-M)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7518" y="2541587"/>
            <a:ext cx="2848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Resistor (220, 10k, 100k)</a:t>
            </a:r>
          </a:p>
        </p:txBody>
      </p:sp>
    </p:spTree>
    <p:extLst>
      <p:ext uri="{BB962C8B-B14F-4D97-AF65-F5344CB8AC3E}">
        <p14:creationId xmlns:p14="http://schemas.microsoft.com/office/powerpoint/2010/main" val="18768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4F5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CC2DAE-7A6C-7534-4E20-05654F5DC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F2FF5A6-B64C-0130-FA0B-3CAD962DFA37}"/>
              </a:ext>
            </a:extLst>
          </p:cNvPr>
          <p:cNvSpPr/>
          <p:nvPr/>
        </p:nvSpPr>
        <p:spPr>
          <a:xfrm>
            <a:off x="4670474" y="342907"/>
            <a:ext cx="2912012" cy="655899"/>
          </a:xfrm>
          <a:prstGeom prst="roundRect">
            <a:avLst/>
          </a:pr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CFEBFF-21CD-895E-A56F-F0C2D5B88421}"/>
              </a:ext>
            </a:extLst>
          </p:cNvPr>
          <p:cNvSpPr txBox="1"/>
          <p:nvPr/>
        </p:nvSpPr>
        <p:spPr>
          <a:xfrm>
            <a:off x="-75501" y="0"/>
            <a:ext cx="12192000" cy="6857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18C056-B15A-05F6-28EE-9D3836741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904229"/>
              </p:ext>
            </p:extLst>
          </p:nvPr>
        </p:nvGraphicFramePr>
        <p:xfrm>
          <a:off x="1344569" y="1592575"/>
          <a:ext cx="9351861" cy="465902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901970">
                  <a:extLst>
                    <a:ext uri="{9D8B030D-6E8A-4147-A177-3AD203B41FA5}">
                      <a16:colId xmlns:a16="http://schemas.microsoft.com/office/drawing/2014/main" val="3487834465"/>
                    </a:ext>
                  </a:extLst>
                </a:gridCol>
                <a:gridCol w="1862356">
                  <a:extLst>
                    <a:ext uri="{9D8B030D-6E8A-4147-A177-3AD203B41FA5}">
                      <a16:colId xmlns:a16="http://schemas.microsoft.com/office/drawing/2014/main" val="2460258327"/>
                    </a:ext>
                  </a:extLst>
                </a:gridCol>
                <a:gridCol w="1417741">
                  <a:extLst>
                    <a:ext uri="{9D8B030D-6E8A-4147-A177-3AD203B41FA5}">
                      <a16:colId xmlns:a16="http://schemas.microsoft.com/office/drawing/2014/main" val="634174705"/>
                    </a:ext>
                  </a:extLst>
                </a:gridCol>
                <a:gridCol w="2026575">
                  <a:extLst>
                    <a:ext uri="{9D8B030D-6E8A-4147-A177-3AD203B41FA5}">
                      <a16:colId xmlns:a16="http://schemas.microsoft.com/office/drawing/2014/main" val="749761985"/>
                    </a:ext>
                  </a:extLst>
                </a:gridCol>
                <a:gridCol w="2143219">
                  <a:extLst>
                    <a:ext uri="{9D8B030D-6E8A-4147-A177-3AD203B41FA5}">
                      <a16:colId xmlns:a16="http://schemas.microsoft.com/office/drawing/2014/main" val="2543264319"/>
                    </a:ext>
                  </a:extLst>
                </a:gridCol>
              </a:tblGrid>
              <a:tr h="500714">
                <a:tc>
                  <a:txBody>
                    <a:bodyPr/>
                    <a:lstStyle/>
                    <a:p>
                      <a:r>
                        <a:rPr lang="en-US" dirty="0"/>
                        <a:t>Arduino Uno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Resistor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LED(Red)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Potentiometer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04064"/>
                  </a:ext>
                </a:extLst>
              </a:tr>
              <a:tr h="286122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(+)</a:t>
                      </a:r>
                      <a:r>
                        <a:rPr lang="en-US" dirty="0" err="1"/>
                        <a:t>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16597"/>
                  </a:ext>
                </a:extLst>
              </a:tr>
              <a:tr h="286122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315102"/>
                  </a:ext>
                </a:extLst>
              </a:tr>
              <a:tr h="286122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156134"/>
                  </a:ext>
                </a:extLst>
              </a:tr>
              <a:tr h="286122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DB4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129756"/>
                  </a:ext>
                </a:extLst>
              </a:tr>
              <a:tr h="286122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DB5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730979"/>
                  </a:ext>
                </a:extLst>
              </a:tr>
              <a:tr h="286122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DB6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973689"/>
                  </a:ext>
                </a:extLst>
              </a:tr>
              <a:tr h="286122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DB7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446699"/>
                  </a:ext>
                </a:extLst>
              </a:tr>
              <a:tr h="286122">
                <a:tc>
                  <a:txBody>
                    <a:bodyPr/>
                    <a:lstStyle/>
                    <a:p>
                      <a:r>
                        <a:rPr lang="en-US" dirty="0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BLK, 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(+)</a:t>
                      </a:r>
                      <a:r>
                        <a:rPr lang="en-US" dirty="0" err="1"/>
                        <a:t>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561883"/>
                  </a:ext>
                </a:extLst>
              </a:tr>
              <a:tr h="286122">
                <a:tc>
                  <a:txBody>
                    <a:bodyPr/>
                    <a:lstStyle/>
                    <a:p>
                      <a:r>
                        <a:rPr lang="en-US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(-)</a:t>
                      </a:r>
                      <a:r>
                        <a:rPr lang="en-US" dirty="0" err="1"/>
                        <a:t>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RW, BLA, 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(-)</a:t>
                      </a:r>
                      <a:r>
                        <a:rPr lang="en-US" dirty="0" err="1"/>
                        <a:t>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478720"/>
                  </a:ext>
                </a:extLst>
              </a:tr>
              <a:tr h="286122">
                <a:tc>
                  <a:txBody>
                    <a:bodyPr/>
                    <a:lstStyle/>
                    <a:p>
                      <a:r>
                        <a:rPr lang="en-US" dirty="0"/>
                        <a:t>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10K(-), 100K(+)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014925"/>
                  </a:ext>
                </a:extLst>
              </a:tr>
              <a:tr h="50071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MIDDLE TERMINAL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975800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840182ED-B145-FBB7-1602-5A739F511246}"/>
              </a:ext>
            </a:extLst>
          </p:cNvPr>
          <p:cNvSpPr txBox="1">
            <a:spLocks/>
          </p:cNvSpPr>
          <p:nvPr/>
        </p:nvSpPr>
        <p:spPr>
          <a:xfrm>
            <a:off x="4670474" y="178904"/>
            <a:ext cx="3747969" cy="946641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b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530051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4670474" y="342907"/>
            <a:ext cx="2912012" cy="655899"/>
          </a:xfrm>
          <a:prstGeom prst="roundRect">
            <a:avLst/>
          </a:pr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48B51AE-252F-4958-A1E9-67C57179FF35}"/>
              </a:ext>
            </a:extLst>
          </p:cNvPr>
          <p:cNvSpPr txBox="1">
            <a:spLocks/>
          </p:cNvSpPr>
          <p:nvPr/>
        </p:nvSpPr>
        <p:spPr>
          <a:xfrm>
            <a:off x="4670474" y="178904"/>
            <a:ext cx="3747969" cy="946641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b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Circuit Diagram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35" t="3315" r="12372" b="3201"/>
          <a:stretch/>
        </p:blipFill>
        <p:spPr>
          <a:xfrm>
            <a:off x="1253490" y="916823"/>
            <a:ext cx="9685019" cy="566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177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4670474" y="225084"/>
            <a:ext cx="2912012" cy="900462"/>
          </a:xfrm>
          <a:prstGeom prst="roundRect">
            <a:avLst/>
          </a:pr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48B51AE-252F-4958-A1E9-67C57179FF35}"/>
              </a:ext>
            </a:extLst>
          </p:cNvPr>
          <p:cNvSpPr txBox="1">
            <a:spLocks/>
          </p:cNvSpPr>
          <p:nvPr/>
        </p:nvSpPr>
        <p:spPr>
          <a:xfrm>
            <a:off x="4850540" y="342907"/>
            <a:ext cx="2619405" cy="782638"/>
          </a:xfrm>
          <a:prstGeom prst="rect">
            <a:avLst/>
          </a:prstGeom>
        </p:spPr>
        <p:txBody>
          <a:bodyPr vert="horz" lIns="0" tIns="45720" rIns="0" bIns="45720" rtlCol="0" anchor="ctr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b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Mechanism</a:t>
            </a:r>
            <a:endParaRPr lang="en-US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9704" y="1325201"/>
            <a:ext cx="11741834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Arduino’s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analog input pins (A0–A5)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can only measure voltages from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0 to 5 V</a:t>
            </a: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However, a voltage divider circuit is made of two resistors in series (R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and R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). The higher voltage is applied across both resistors, and the Arduino reads the voltage across the lower resistor (R2).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Let, V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in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is the external voltage to be measured.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out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is the scaled voltage safe for Arduino. The input voltage (V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in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) is divided down by the resistor ratio so the Arduino sees only a portion of it.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Arduino’s ADC (Analog-to-Digital Converter) converts this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out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(0–5V) into a digital value (0–1023 for 10-bit ADC).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 code, the Arduino scales the ADC reading back up using the resistor ratio found by voltage divider law: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​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l="2968" t="9371" r="3391" b="14930"/>
          <a:stretch/>
        </p:blipFill>
        <p:spPr>
          <a:xfrm>
            <a:off x="3836285" y="5220229"/>
            <a:ext cx="2799471" cy="10848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43905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22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28E52E4-49E0-8F7B-4053-171365BD2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09" y="895499"/>
            <a:ext cx="5304269" cy="530881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670474" y="225083"/>
            <a:ext cx="2912012" cy="1041009"/>
          </a:xfrm>
          <a:prstGeom prst="rect">
            <a:avLst/>
          </a:pr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8B51AE-252F-4958-A1E9-67C57179FF35}"/>
              </a:ext>
            </a:extLst>
          </p:cNvPr>
          <p:cNvSpPr txBox="1">
            <a:spLocks/>
          </p:cNvSpPr>
          <p:nvPr/>
        </p:nvSpPr>
        <p:spPr>
          <a:xfrm>
            <a:off x="4850540" y="342906"/>
            <a:ext cx="2619405" cy="690763"/>
          </a:xfrm>
          <a:prstGeom prst="rect">
            <a:avLst/>
          </a:prstGeom>
        </p:spPr>
        <p:txBody>
          <a:bodyPr vert="horz" lIns="0" tIns="45720" rIns="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b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n w="0"/>
                <a:solidFill>
                  <a:schemeClr val="bg1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Code</a:t>
            </a:r>
          </a:p>
        </p:txBody>
      </p:sp>
      <p:pic>
        <p:nvPicPr>
          <p:cNvPr id="7" name="Picture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69C57E9-EDAF-3F0E-8A17-94E173082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423" y="1172895"/>
            <a:ext cx="5426994" cy="534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992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9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D1FF6F-2182-9AC3-2538-CF411739BC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shade val="30000"/>
                  <a:satMod val="115000"/>
                  <a:alpha val="0"/>
                  <a:lumMod val="0"/>
                </a:schemeClr>
              </a:gs>
              <a:gs pos="48000">
                <a:schemeClr val="accent6">
                  <a:shade val="67500"/>
                  <a:satMod val="115000"/>
                  <a:alpha val="42000"/>
                  <a:lumMod val="28000"/>
                  <a:lumOff val="72000"/>
                </a:schemeClr>
              </a:gs>
              <a:gs pos="100000">
                <a:schemeClr val="accent6">
                  <a:lumMod val="20000"/>
                  <a:lumOff val="8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886264" y="1744395"/>
            <a:ext cx="11127545" cy="1969477"/>
          </a:xfrm>
          <a:prstGeom prst="roundRect">
            <a:avLst/>
          </a:pr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3227540" y="225083"/>
            <a:ext cx="5736920" cy="1041009"/>
          </a:xfrm>
          <a:prstGeom prst="roundRect">
            <a:avLst/>
          </a:pr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48B51AE-252F-4958-A1E9-67C57179FF35}"/>
              </a:ext>
            </a:extLst>
          </p:cNvPr>
          <p:cNvSpPr txBox="1">
            <a:spLocks/>
          </p:cNvSpPr>
          <p:nvPr/>
        </p:nvSpPr>
        <p:spPr>
          <a:xfrm>
            <a:off x="-227782" y="476426"/>
            <a:ext cx="5590783" cy="78263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b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59" y="1259064"/>
            <a:ext cx="851095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n w="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Analog to digital conversion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n w="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Calibration of voltage readings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n w="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LCD interfacing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n w="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Safety in voltage handling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264" y="4403192"/>
            <a:ext cx="11127545" cy="1969477"/>
          </a:xfrm>
          <a:prstGeom prst="roundRect">
            <a:avLst/>
          </a:pr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280159" y="4031985"/>
            <a:ext cx="107336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n w="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 voltmeter is used in almost all circuits in real life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n w="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Without proper voltage measurement, no electrical device can be made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n w="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Can be used to prove VDR (Voltage Divider Rule)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n w="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Can be used to measure DC voltages up to 50V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B82F97F-A1FD-0AA6-0F30-701C142E3DE8}"/>
              </a:ext>
            </a:extLst>
          </p:cNvPr>
          <p:cNvSpPr txBox="1">
            <a:spLocks/>
          </p:cNvSpPr>
          <p:nvPr/>
        </p:nvSpPr>
        <p:spPr>
          <a:xfrm>
            <a:off x="1280159" y="3168958"/>
            <a:ext cx="9092851" cy="78263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b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Applications in real life</a:t>
            </a:r>
          </a:p>
        </p:txBody>
      </p:sp>
    </p:spTree>
    <p:extLst>
      <p:ext uri="{BB962C8B-B14F-4D97-AF65-F5344CB8AC3E}">
        <p14:creationId xmlns:p14="http://schemas.microsoft.com/office/powerpoint/2010/main" val="491993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9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5918C3-4962-4B4A-D9E5-8D3614B38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36937E-62B8-FA80-A272-A4473E51A7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shade val="30000"/>
                  <a:satMod val="115000"/>
                  <a:alpha val="0"/>
                  <a:lumMod val="0"/>
                </a:schemeClr>
              </a:gs>
              <a:gs pos="48000">
                <a:schemeClr val="accent6">
                  <a:shade val="67500"/>
                  <a:satMod val="115000"/>
                  <a:alpha val="42000"/>
                  <a:lumMod val="28000"/>
                  <a:lumOff val="72000"/>
                </a:schemeClr>
              </a:gs>
              <a:gs pos="100000">
                <a:schemeClr val="accent6">
                  <a:lumMod val="20000"/>
                  <a:lumOff val="8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1A536BF-CA59-D56A-383C-2A0152D0AE81}"/>
              </a:ext>
            </a:extLst>
          </p:cNvPr>
          <p:cNvSpPr/>
          <p:nvPr/>
        </p:nvSpPr>
        <p:spPr>
          <a:xfrm>
            <a:off x="886264" y="1744395"/>
            <a:ext cx="11127545" cy="1969477"/>
          </a:xfrm>
          <a:prstGeom prst="roundRect">
            <a:avLst/>
          </a:pr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9C8FA8E-0B20-BD8A-8448-6D5D761E895F}"/>
              </a:ext>
            </a:extLst>
          </p:cNvPr>
          <p:cNvSpPr/>
          <p:nvPr/>
        </p:nvSpPr>
        <p:spPr>
          <a:xfrm>
            <a:off x="3227540" y="225083"/>
            <a:ext cx="5736920" cy="1041009"/>
          </a:xfrm>
          <a:prstGeom prst="roundRect">
            <a:avLst/>
          </a:pr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67C5AC-D9CF-415C-3CC8-692F8EE5A7BC}"/>
              </a:ext>
            </a:extLst>
          </p:cNvPr>
          <p:cNvSpPr txBox="1">
            <a:spLocks/>
          </p:cNvSpPr>
          <p:nvPr/>
        </p:nvSpPr>
        <p:spPr>
          <a:xfrm>
            <a:off x="1172651" y="476426"/>
            <a:ext cx="5590783" cy="78263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b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Future Scope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BBFF35-72B4-12FB-45BD-B8FEDC1968BC}"/>
              </a:ext>
            </a:extLst>
          </p:cNvPr>
          <p:cNvSpPr txBox="1"/>
          <p:nvPr/>
        </p:nvSpPr>
        <p:spPr>
          <a:xfrm>
            <a:off x="1172651" y="1506671"/>
            <a:ext cx="851095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n w="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IoT Integration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n w="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Data Logging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n w="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AC Measurement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n w="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Higher Accuracy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n w="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Compact Design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36BBF79-A3FC-F45F-A34C-E70F74DCF180}"/>
              </a:ext>
            </a:extLst>
          </p:cNvPr>
          <p:cNvSpPr/>
          <p:nvPr/>
        </p:nvSpPr>
        <p:spPr>
          <a:xfrm>
            <a:off x="886264" y="4403192"/>
            <a:ext cx="11127545" cy="1969477"/>
          </a:xfrm>
          <a:prstGeom prst="roundRect">
            <a:avLst/>
          </a:pr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6039BA0-E339-C6BB-B57E-B58F2DF43896}"/>
              </a:ext>
            </a:extLst>
          </p:cNvPr>
          <p:cNvSpPr txBox="1">
            <a:spLocks/>
          </p:cNvSpPr>
          <p:nvPr/>
        </p:nvSpPr>
        <p:spPr>
          <a:xfrm>
            <a:off x="1280159" y="3168958"/>
            <a:ext cx="9092851" cy="78263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b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4800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22658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9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C73587-63E2-79F7-444E-678D5F9A9D9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shade val="30000"/>
                  <a:satMod val="115000"/>
                  <a:alpha val="0"/>
                  <a:lumMod val="0"/>
                </a:schemeClr>
              </a:gs>
              <a:gs pos="55000">
                <a:schemeClr val="accent6">
                  <a:shade val="67500"/>
                  <a:satMod val="115000"/>
                  <a:lumMod val="28000"/>
                  <a:lumOff val="72000"/>
                  <a:alpha val="36000"/>
                </a:schemeClr>
              </a:gs>
              <a:gs pos="100000">
                <a:schemeClr val="accent6">
                  <a:lumMod val="20000"/>
                  <a:lumOff val="80000"/>
                  <a:shade val="100000"/>
                  <a:satMod val="115000"/>
                  <a:alpha val="70000"/>
                </a:schemeClr>
              </a:gs>
            </a:gsLst>
            <a:lin ang="1620000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sz="9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Comic Sans MS" panose="030F0702030302020204" pitchFamily="66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309279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24">
      <a:dk1>
        <a:sysClr val="windowText" lastClr="000000"/>
      </a:dk1>
      <a:lt1>
        <a:sysClr val="window" lastClr="FFFFFF"/>
      </a:lt1>
      <a:dk2>
        <a:srgbClr val="64AC00"/>
      </a:dk2>
      <a:lt2>
        <a:srgbClr val="CBFF00"/>
      </a:lt2>
      <a:accent1>
        <a:srgbClr val="002E62"/>
      </a:accent1>
      <a:accent2>
        <a:srgbClr val="004CB9"/>
      </a:accent2>
      <a:accent3>
        <a:srgbClr val="005500"/>
      </a:accent3>
      <a:accent4>
        <a:srgbClr val="16B3DC"/>
      </a:accent4>
      <a:accent5>
        <a:srgbClr val="F9DC5C"/>
      </a:accent5>
      <a:accent6>
        <a:srgbClr val="EF626C"/>
      </a:accent6>
      <a:hlink>
        <a:srgbClr val="FFFFFF"/>
      </a:hlink>
      <a:folHlink>
        <a:srgbClr val="FFFFFF"/>
      </a:folHlink>
    </a:clrScheme>
    <a:fontScheme name="Custom 21">
      <a:majorFont>
        <a:latin typeface="Gill Sans MT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TF22977542_Outdoors presentation_RVA_v4.potx" id="{6CD96AFB-7D75-48FF-A856-C8B82BF3C12B}" vid="{1E6ACFD4-3AE6-4944-B76B-DA44E915EC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935B1F0-3442-4957-9701-25816EFDB6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26A71AF-4CF2-4B95-BFB6-5C27500258C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F60B100-7079-4DE7-AF7C-20BFB1D62C4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Outdoor exploration presentation</Template>
  <TotalTime>0</TotalTime>
  <Words>504</Words>
  <Application>Microsoft Office PowerPoint</Application>
  <PresentationFormat>Widescreen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Cambria</vt:lpstr>
      <vt:lpstr>Comic Sans MS</vt:lpstr>
      <vt:lpstr>Franklin Gothic Book</vt:lpstr>
      <vt:lpstr>Gill Sans MT</vt:lpstr>
      <vt:lpstr>Poppins Light</vt:lpstr>
      <vt:lpstr>Wingdings</vt:lpstr>
      <vt:lpstr>Office Theme</vt:lpstr>
      <vt:lpstr>Digital Voltmeter Using Arduino and LCD Display</vt:lpstr>
      <vt:lpstr>Executed by:</vt:lpstr>
      <vt:lpstr>Table of Content:</vt:lpstr>
      <vt:lpstr>Prologue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2025-08-26T13:00:20Z</dcterms:created>
  <dcterms:modified xsi:type="dcterms:W3CDTF">2025-09-23T06:42:37Z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